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8AC3F19-9265-3446-D247-74540A0BB49B}">
          <p14:sldIdLst>
            <p14:sldId id="256"/>
            <p14:sldId id="257"/>
            <p14:sldId id="258"/>
          </p14:sldIdLst>
        </p14:section>
        <p14:section name="Method" id="{FAD722F3-C753-BA31-4F5D-450D90A80968}">
          <p14:sldIdLst>
            <p14:sldId id="259"/>
            <p14:sldId id="260"/>
            <p14:sldId id="261"/>
          </p14:sldIdLst>
        </p14:section>
        <p14:section name="Results" id="{5807EA68-7D5E-63C6-358C-4D86878E154A}">
          <p14:sldIdLst>
            <p14:sldId id="262"/>
            <p14:sldId id="263"/>
          </p14:sldIdLst>
        </p14:section>
        <p14:section name="Wrap-up" id="{C38A5D03-3736-C593-DEAB-E1E833B7C1C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2263F"/>
                </a:solidFill>
                <a:latin typeface="+mn-lt"/>
              </a:rPr>
              <a:t>Accuracy by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Math</c:v>
                </c:pt>
                <c:pt idx="1">
                  <c:v>Logic</c:v>
                </c:pt>
                <c:pt idx="2">
                  <c:v>Aptitude</c:v>
                </c:pt>
                <c:pt idx="3">
                  <c:v>Algorithmic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67</c:v>
                </c:pt>
                <c:pt idx="2">
                  <c:v>100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A3-415C-AA84-2C639E1593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Structured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Math</c:v>
                </c:pt>
                <c:pt idx="1">
                  <c:v>Logic</c:v>
                </c:pt>
                <c:pt idx="2">
                  <c:v>Aptitude</c:v>
                </c:pt>
                <c:pt idx="3">
                  <c:v>Algorithmic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A3-415C-AA84-2C639E1593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39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prompting strategies and the model used (Gemini via the Google Gemini API). Add your name and roll number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practical question: is the extra cost of structured reasoning justified by better accuracy?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and H3 concern correctness; H2 concerns computational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reference answers were prepared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quoted templates with the exact prompt text from your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sampling settings (temperature etc.) if you set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cells and chart values are placeholders. Replace them with the aggregated results from your DataFrame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generic failure modes with specific question IDs from your error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explicitly whether H1, H2 and H3 were supported by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thanks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Mesra  |  Modern AI  |  Assignment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Mesra  |  Modern AI  |  Assignment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82296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8229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 of Direct Prompting and Structured Reasoning Prompting in Large Language Models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 |  Assignment 2  |  M.Tech, BIT Mesra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863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BHAVYA JHA  |  [MT/AI/10009/26]</a:t>
            </a:r>
          </a:p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HARSHITA      |  [MT/AI/10036/26]</a:t>
            </a:r>
            <a:endParaRPr lang="en-US" sz="1400" dirty="0"/>
          </a:p>
        </p:txBody>
      </p:sp>
      <p:sp>
        <p:nvSpPr>
          <p:cNvPr id="5" name="Pill Direct"/>
          <p:cNvSpPr/>
          <p:nvPr/>
        </p:nvSpPr>
        <p:spPr>
          <a:xfrm>
            <a:off x="640080" y="39319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8" name="Pill Structured"/>
          <p:cNvSpPr/>
          <p:nvPr/>
        </p:nvSpPr>
        <p:spPr>
          <a:xfrm>
            <a:off x="3657600" y="39319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Badg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wording changes outcomes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36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to the same question can differ depending on how the task is phrased.</a:t>
            </a:r>
            <a:endParaRPr lang="en-US" sz="1400" dirty="0"/>
          </a:p>
        </p:txBody>
      </p:sp>
      <p:sp>
        <p:nvSpPr>
          <p:cNvPr id="7" name="Badge 2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prompts are cheap but opaque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33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Answer-only prompts are fast, yet give no visibility into how a result was reached.</a:t>
            </a:r>
            <a:endParaRPr lang="en-US" sz="1400" dirty="0"/>
          </a:p>
        </p:txBody>
      </p:sp>
      <p:sp>
        <p:nvSpPr>
          <p:cNvPr id="11" name="Badge 3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prompts may cost more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307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prompts can improve correctness but add latency and token usage.</a:t>
            </a:r>
            <a:endParaRPr lang="en-US" sz="1400" dirty="0"/>
          </a:p>
        </p:txBody>
      </p:sp>
      <p:sp>
        <p:nvSpPr>
          <p:cNvPr id="15" name="Stat panel"/>
          <p:cNvSpPr/>
          <p:nvPr/>
        </p:nvSpPr>
        <p:spPr>
          <a:xfrm>
            <a:off x="6309360" y="11887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strategies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4 categories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and Hypotheses</a:t>
            </a:r>
            <a:endParaRPr lang="en-US" sz="3000" dirty="0"/>
          </a:p>
        </p:txBody>
      </p:sp>
      <p:sp>
        <p:nvSpPr>
          <p:cNvPr id="3" name="RQ panel"/>
          <p:cNvSpPr/>
          <p:nvPr/>
        </p:nvSpPr>
        <p:spPr>
          <a:xfrm>
            <a:off x="457200" y="11430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explicit step-by-step reasoning, compared with answer-only prompting, affect the accuracy, error rate, response time and token cost of Gemini on mathematical, logical, aptitude and algorithmic problems?</a:t>
            </a:r>
            <a:endParaRPr lang="en-US" sz="1600" dirty="0"/>
          </a:p>
        </p:txBody>
      </p:sp>
      <p:sp>
        <p:nvSpPr>
          <p:cNvPr id="6" name="Hypothesis card H1"/>
          <p:cNvSpPr/>
          <p:nvPr/>
        </p:nvSpPr>
        <p:spPr>
          <a:xfrm>
            <a:off x="457200" y="2834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Badge H1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achieves higher accuracy, and a lower error rate, than direct prompting.</a:t>
            </a:r>
            <a:endParaRPr lang="en-US" sz="1400" dirty="0"/>
          </a:p>
        </p:txBody>
      </p:sp>
      <p:sp>
        <p:nvSpPr>
          <p:cNvPr id="11" name="Hypothesis card H2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Badge H2"/>
          <p:cNvSpPr/>
          <p:nvPr/>
        </p:nvSpPr>
        <p:spPr>
          <a:xfrm>
            <a:off x="3474720" y="2971800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takes longer and uses more output tokens than direct prompting.</a:t>
            </a:r>
            <a:endParaRPr lang="en-US" sz="1400" dirty="0"/>
          </a:p>
        </p:txBody>
      </p:sp>
      <p:sp>
        <p:nvSpPr>
          <p:cNvPr id="16" name="Hypothesis card H3"/>
          <p:cNvSpPr/>
          <p:nvPr/>
        </p:nvSpPr>
        <p:spPr>
          <a:xfrm>
            <a:off x="6126480" y="2834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Badge H3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gain is largest on multi-step mathematical and algorithmic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Design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Arithmetic, algebra, word problems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Deduction, sequences, puzzles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Percentages, ratios, time and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Complexity, code tracing, recurrences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aset stat"/>
          <p:cNvSpPr/>
          <p:nvPr/>
        </p:nvSpPr>
        <p:spPr>
          <a:xfrm>
            <a:off x="6217920" y="1188720"/>
            <a:ext cx="2468880" cy="251460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Text 2"/>
          <p:cNvSpPr txBox="1"/>
          <p:nvPr/>
        </p:nvSpPr>
        <p:spPr>
          <a:xfrm>
            <a:off x="635508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total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 × 3 questions, stored as a CSV with a reference answer per question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design stops any single domain from dominating the aggregate metrics.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6187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7556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12 questions</a:t>
            </a:r>
            <a:endParaRPr lang="en-US" sz="1100" dirty="0"/>
          </a:p>
        </p:txBody>
      </p:sp>
      <p:sp>
        <p:nvSpPr>
          <p:cNvPr id="6" name="Arrow 1"/>
          <p:cNvSpPr/>
          <p:nvPr/>
        </p:nvSpPr>
        <p:spPr>
          <a:xfrm>
            <a:off x="1828800" y="1691640"/>
            <a:ext cx="34290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Step 2"/>
          <p:cNvSpPr/>
          <p:nvPr/>
        </p:nvSpPr>
        <p:spPr>
          <a:xfrm>
            <a:off x="2171700" y="11887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4852" y="126187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4852" y="17556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templates</a:t>
            </a:r>
            <a:endParaRPr lang="en-US" sz="1100" dirty="0"/>
          </a:p>
        </p:txBody>
      </p:sp>
      <p:sp>
        <p:nvSpPr>
          <p:cNvPr id="10" name="Arrow 2"/>
          <p:cNvSpPr/>
          <p:nvPr/>
        </p:nvSpPr>
        <p:spPr>
          <a:xfrm>
            <a:off x="3543300" y="1691640"/>
            <a:ext cx="34290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Step 3"/>
          <p:cNvSpPr/>
          <p:nvPr/>
        </p:nvSpPr>
        <p:spPr>
          <a:xfrm>
            <a:off x="3886200" y="11887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9352" y="126187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Call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17556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3.8 Flash</a:t>
            </a:r>
            <a:endParaRPr lang="en-US" sz="1100" dirty="0"/>
          </a:p>
        </p:txBody>
      </p:sp>
      <p:sp>
        <p:nvSpPr>
          <p:cNvPr id="14" name="Arrow 3"/>
          <p:cNvSpPr/>
          <p:nvPr/>
        </p:nvSpPr>
        <p:spPr>
          <a:xfrm>
            <a:off x="5257800" y="1691640"/>
            <a:ext cx="34290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tep 4"/>
          <p:cNvSpPr/>
          <p:nvPr/>
        </p:nvSpPr>
        <p:spPr>
          <a:xfrm>
            <a:off x="5600700" y="11887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73852" y="126187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Logging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73852" y="17556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tokens</a:t>
            </a:r>
            <a:endParaRPr lang="en-US" sz="1100" dirty="0"/>
          </a:p>
        </p:txBody>
      </p:sp>
      <p:sp>
        <p:nvSpPr>
          <p:cNvPr id="18" name="Arrow 4"/>
          <p:cNvSpPr/>
          <p:nvPr/>
        </p:nvSpPr>
        <p:spPr>
          <a:xfrm>
            <a:off x="6972300" y="1691640"/>
            <a:ext cx="34290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tep 5"/>
          <p:cNvSpPr/>
          <p:nvPr/>
        </p:nvSpPr>
        <p:spPr>
          <a:xfrm>
            <a:off x="7315200" y="11887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88352" y="126187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88352" y="175564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error rate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applied to every question</a:t>
            </a:r>
            <a:endParaRPr lang="en-US" sz="1200" dirty="0"/>
          </a:p>
        </p:txBody>
      </p:sp>
      <p:sp>
        <p:nvSpPr>
          <p:cNvPr id="23" name="Direct card"/>
          <p:cNvSpPr/>
          <p:nvPr/>
        </p:nvSpPr>
        <p:spPr>
          <a:xfrm>
            <a:off x="457200" y="27432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6EDF6"/>
          </a:solidFill>
          <a:ln w="12700">
            <a:solidFill>
              <a:srgbClr val="E6ED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only the final answer.”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final answer only</a:t>
            </a:r>
            <a:endParaRPr lang="en-US" sz="1200" dirty="0"/>
          </a:p>
        </p:txBody>
      </p:sp>
      <p:sp>
        <p:nvSpPr>
          <p:cNvPr id="27" name="Structured card"/>
          <p:cNvSpPr/>
          <p:nvPr/>
        </p:nvSpPr>
        <p:spPr>
          <a:xfrm>
            <a:off x="4709160" y="27432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BF0DD"/>
          </a:solidFill>
          <a:ln w="12700">
            <a:solidFill>
              <a:srgbClr val="FBF0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Prompting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“Solve step by step, then state the final answer.”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explicit steps + final answer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and same question set for both strategies, so differences are attributable to the prompt.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48056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3.8 Flash via Google Gemini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 in VS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Metric Accuracy"/>
          <p:cNvSpPr/>
          <p:nvPr/>
        </p:nvSpPr>
        <p:spPr>
          <a:xfrm>
            <a:off x="5212080" y="1188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2180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321808" y="16459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÷ 12 questions</a:t>
            </a:r>
            <a:endParaRPr lang="en-US" sz="1200" dirty="0"/>
          </a:p>
        </p:txBody>
      </p:sp>
      <p:sp>
        <p:nvSpPr>
          <p:cNvPr id="3" name="Metric Error rate"/>
          <p:cNvSpPr/>
          <p:nvPr/>
        </p:nvSpPr>
        <p:spPr>
          <a:xfrm>
            <a:off x="7086600" y="11887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96328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96328" y="164592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answers ÷ 12 questions</a:t>
            </a:r>
            <a:endParaRPr lang="en-US" sz="1200" dirty="0"/>
          </a:p>
        </p:txBody>
      </p:sp>
      <p:sp>
        <p:nvSpPr>
          <p:cNvPr id="10" name="Metric Response time"/>
          <p:cNvSpPr/>
          <p:nvPr/>
        </p:nvSpPr>
        <p:spPr>
          <a:xfrm>
            <a:off x="5212080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21808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21808" y="32004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API call</a:t>
            </a:r>
            <a:endParaRPr lang="en-US" sz="1200" dirty="0"/>
          </a:p>
        </p:txBody>
      </p:sp>
      <p:sp>
        <p:nvSpPr>
          <p:cNvPr id="13" name="Metric Token usage"/>
          <p:cNvSpPr/>
          <p:nvPr/>
        </p:nvSpPr>
        <p:spPr>
          <a:xfrm>
            <a:off x="7086600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96328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196328" y="32004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tokens per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000" dirty="0"/>
          </a:p>
        </p:txBody>
      </p:sp>
      <p:sp>
        <p:nvSpPr>
          <p:cNvPr id="3" name="Placeholder notice"/>
          <p:cNvSpPr/>
          <p:nvPr/>
        </p:nvSpPr>
        <p:spPr>
          <a:xfrm>
            <a:off x="457200" y="1097280"/>
            <a:ext cx="8229600" cy="292608"/>
          </a:xfrm>
          <a:prstGeom prst="roundRect">
            <a:avLst>
              <a:gd name="adj" fmla="val 31250"/>
            </a:avLst>
          </a:prstGeom>
          <a:solidFill>
            <a:srgbClr val="FBF0DD"/>
          </a:solidFill>
          <a:ln w="9525">
            <a:solidFill>
              <a:srgbClr val="E09F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placeholder values: replace with the outputs from your notebook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127096"/>
              </p:ext>
            </p:extLst>
          </p:nvPr>
        </p:nvGraphicFramePr>
        <p:xfrm>
          <a:off x="457200" y="1600200"/>
          <a:ext cx="384048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input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output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572000" y="1554480"/>
          <a:ext cx="41148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Cases and Limitations</a:t>
            </a:r>
            <a:endParaRPr lang="en-US" sz="3000" dirty="0"/>
          </a:p>
        </p:txBody>
      </p:sp>
      <p:sp>
        <p:nvSpPr>
          <p:cNvPr id="3" name="Card Failure modes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multi-step calculations answered without intermediate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an early arithmetic slip propagates to the final answer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output makes automatic answer extraction error-prone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wording invites unintended interpretations</a:t>
            </a:r>
            <a:endParaRPr lang="en-US" sz="1400" dirty="0"/>
          </a:p>
        </p:txBody>
      </p:sp>
      <p:sp>
        <p:nvSpPr>
          <p:cNvPr id="6" name="Card Limitations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 questions: results are indicative, not statistically significant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and a single run per question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varies with network and API 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matching may mis-score equivalent formats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akeaway 01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and Gemini workflow measures accuracy, error rate, latency and tokens side by side.</a:t>
            </a:r>
            <a:endParaRPr lang="en-US" sz="1400" dirty="0"/>
          </a:p>
        </p:txBody>
      </p:sp>
      <p:sp>
        <p:nvSpPr>
          <p:cNvPr id="7" name="Takeaway 02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versus cost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is judged as a trade-off, not a free improvement.</a:t>
            </a:r>
            <a:endParaRPr lang="en-US" sz="1400" dirty="0"/>
          </a:p>
        </p:txBody>
      </p:sp>
      <p:sp>
        <p:nvSpPr>
          <p:cNvPr id="11" name="Takeaway 03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prompt to task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direct prompts for simple queries and structured reasoning for multi-step problems.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Future 1"/>
          <p:cNvSpPr/>
          <p:nvPr/>
        </p:nvSpPr>
        <p:spPr>
          <a:xfrm>
            <a:off x="457200" y="118872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89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benchmark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100+ questions with more categories and difficulty levels.</a:t>
            </a:r>
            <a:endParaRPr lang="en-US" sz="1400" dirty="0"/>
          </a:p>
        </p:txBody>
      </p:sp>
      <p:sp>
        <p:nvSpPr>
          <p:cNvPr id="8" name="Future 2"/>
          <p:cNvSpPr/>
          <p:nvPr/>
        </p:nvSpPr>
        <p:spPr>
          <a:xfrm>
            <a:off x="4709160" y="118872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89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study across other LLMs and model sizes.</a:t>
            </a:r>
            <a:endParaRPr lang="en-US" sz="1400" dirty="0"/>
          </a:p>
        </p:txBody>
      </p:sp>
      <p:sp>
        <p:nvSpPr>
          <p:cNvPr id="13" name="Future 3"/>
          <p:cNvSpPr/>
          <p:nvPr/>
        </p:nvSpPr>
        <p:spPr>
          <a:xfrm>
            <a:off x="457200" y="28803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81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rigour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trials per question with confidence intervals and significance tests.</a:t>
            </a:r>
            <a:endParaRPr lang="en-US" sz="1400" dirty="0"/>
          </a:p>
        </p:txBody>
      </p:sp>
      <p:sp>
        <p:nvSpPr>
          <p:cNvPr id="18" name="Future 4"/>
          <p:cNvSpPr/>
          <p:nvPr/>
        </p:nvSpPr>
        <p:spPr>
          <a:xfrm>
            <a:off x="4709160" y="28803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081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and self-consistency prompting, and adaptive strategy selection.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T Academic">
  <a:themeElements>
    <a:clrScheme name="BIT Academic">
      <a:dk1>
        <a:srgbClr val="1F2933"/>
      </a:dk1>
      <a:lt1>
        <a:srgbClr val="FFFFFF"/>
      </a:lt1>
      <a:dk2>
        <a:srgbClr val="12263F"/>
      </a:dk2>
      <a:lt2>
        <a:srgbClr val="F4F7FA"/>
      </a:lt2>
      <a:accent1>
        <a:srgbClr val="4A6FA5"/>
      </a:accent1>
      <a:accent2>
        <a:srgbClr val="E09F3E"/>
      </a:accent2>
      <a:accent3>
        <a:srgbClr val="1B7F79"/>
      </a:accent3>
      <a:accent4>
        <a:srgbClr val="B5483A"/>
      </a:accent4>
      <a:accent5>
        <a:srgbClr val="7A8CA3"/>
      </a:accent5>
      <a:accent6>
        <a:srgbClr val="2F855A"/>
      </a:accent6>
      <a:hlink>
        <a:srgbClr val="4A6FA5"/>
      </a:hlink>
      <a:folHlink>
        <a:srgbClr val="7A8CA3"/>
      </a:folHlink>
    </a:clrScheme>
    <a:fontScheme name="BIT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832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BIT Academic</vt:lpstr>
      <vt:lpstr>Comparative Analysis of Direct Prompting and Structured Reasoning Prompting in Large Language Models</vt:lpstr>
      <vt:lpstr>Problem Statement</vt:lpstr>
      <vt:lpstr>Research Question and Hypotheses</vt:lpstr>
      <vt:lpstr>Dataset Design</vt:lpstr>
      <vt:lpstr>Methodology</vt:lpstr>
      <vt:lpstr>Experimental Setup</vt:lpstr>
      <vt:lpstr>Preliminary Results</vt:lpstr>
      <vt:lpstr>Failure Cases and Limitations</vt:lpstr>
      <vt:lpstr>Conclusion</vt:lpstr>
      <vt:lpstr>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Direct vs Structured Reasoning Prompting</dc:title>
  <dc:subject>PptxGenJS Presentation</dc:subject>
  <dc:creator>PptxGenJS</dc:creator>
  <cp:lastModifiedBy>BHAVYA JHA</cp:lastModifiedBy>
  <cp:revision>2</cp:revision>
  <dcterms:created xsi:type="dcterms:W3CDTF">2026-10-11T08:57:02Z</dcterms:created>
  <dcterms:modified xsi:type="dcterms:W3CDTF">2026-10-11T10:54:08Z</dcterms:modified>
</cp:coreProperties>
</file>